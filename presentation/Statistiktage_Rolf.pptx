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385" r:id="rId5"/>
    <p:sldId id="392" r:id="rId6"/>
    <p:sldId id="386" r:id="rId7"/>
    <p:sldId id="402" r:id="rId8"/>
    <p:sldId id="387" r:id="rId9"/>
    <p:sldId id="396" r:id="rId10"/>
    <p:sldId id="391" r:id="rId11"/>
    <p:sldId id="401" r:id="rId12"/>
    <p:sldId id="403" r:id="rId13"/>
    <p:sldId id="325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07C1BE-4B3C-40E6-8847-0B466F3C205A}" v="1" dt="2026-08-24T12:27:34.1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32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enker Rolf (SSZ)" userId="9323b05b-0663-4187-9504-ab37973a509a" providerId="ADAL" clId="{8AA50265-4FD1-4682-B342-8B3B3327C024}"/>
    <pc:docChg chg="undo custSel addSld delSld modSld">
      <pc:chgData name="Schenker Rolf (SSZ)" userId="9323b05b-0663-4187-9504-ab37973a509a" providerId="ADAL" clId="{8AA50265-4FD1-4682-B342-8B3B3327C024}" dt="2026-08-24T12:27:54.333" v="1938" actId="2890"/>
      <pc:docMkLst>
        <pc:docMk/>
      </pc:docMkLst>
      <pc:sldChg chg="mod modShow">
        <pc:chgData name="Schenker Rolf (SSZ)" userId="9323b05b-0663-4187-9504-ab37973a509a" providerId="ADAL" clId="{8AA50265-4FD1-4682-B342-8B3B3327C024}" dt="2026-08-19T10:14:21.626" v="1815" actId="729"/>
        <pc:sldMkLst>
          <pc:docMk/>
          <pc:sldMk cId="1967015207" sldId="325"/>
        </pc:sldMkLst>
      </pc:sldChg>
      <pc:sldChg chg="mod modShow">
        <pc:chgData name="Schenker Rolf (SSZ)" userId="9323b05b-0663-4187-9504-ab37973a509a" providerId="ADAL" clId="{8AA50265-4FD1-4682-B342-8B3B3327C024}" dt="2026-08-24T12:27:06.099" v="1906" actId="729"/>
        <pc:sldMkLst>
          <pc:docMk/>
          <pc:sldMk cId="648252816" sldId="385"/>
        </pc:sldMkLst>
      </pc:sldChg>
      <pc:sldChg chg="modSp mod">
        <pc:chgData name="Schenker Rolf (SSZ)" userId="9323b05b-0663-4187-9504-ab37973a509a" providerId="ADAL" clId="{8AA50265-4FD1-4682-B342-8B3B3327C024}" dt="2026-08-24T12:27:37.532" v="1936" actId="20577"/>
        <pc:sldMkLst>
          <pc:docMk/>
          <pc:sldMk cId="2367890108" sldId="386"/>
        </pc:sldMkLst>
        <pc:spChg chg="mod">
          <ac:chgData name="Schenker Rolf (SSZ)" userId="9323b05b-0663-4187-9504-ab37973a509a" providerId="ADAL" clId="{8AA50265-4FD1-4682-B342-8B3B3327C024}" dt="2026-08-24T12:27:37.532" v="1936" actId="20577"/>
          <ac:spMkLst>
            <pc:docMk/>
            <pc:sldMk cId="2367890108" sldId="386"/>
            <ac:spMk id="3" creationId="{EEBEDC67-E947-8871-56F1-2CBCB2541304}"/>
          </ac:spMkLst>
        </pc:spChg>
      </pc:sldChg>
      <pc:sldChg chg="modSp mod modShow">
        <pc:chgData name="Schenker Rolf (SSZ)" userId="9323b05b-0663-4187-9504-ab37973a509a" providerId="ADAL" clId="{8AA50265-4FD1-4682-B342-8B3B3327C024}" dt="2026-08-24T12:27:06.099" v="1906" actId="729"/>
        <pc:sldMkLst>
          <pc:docMk/>
          <pc:sldMk cId="26605867" sldId="392"/>
        </pc:sldMkLst>
        <pc:spChg chg="mod">
          <ac:chgData name="Schenker Rolf (SSZ)" userId="9323b05b-0663-4187-9504-ab37973a509a" providerId="ADAL" clId="{8AA50265-4FD1-4682-B342-8B3B3327C024}" dt="2026-08-19T06:57:36.962" v="1609" actId="404"/>
          <ac:spMkLst>
            <pc:docMk/>
            <pc:sldMk cId="26605867" sldId="392"/>
            <ac:spMk id="6" creationId="{40607213-8F0E-09E5-F6C0-B7DADDE868EF}"/>
          </ac:spMkLst>
        </pc:spChg>
      </pc:sldChg>
      <pc:sldChg chg="modSp mod">
        <pc:chgData name="Schenker Rolf (SSZ)" userId="9323b05b-0663-4187-9504-ab37973a509a" providerId="ADAL" clId="{8AA50265-4FD1-4682-B342-8B3B3327C024}" dt="2026-08-19T10:01:35.025" v="1735" actId="6549"/>
        <pc:sldMkLst>
          <pc:docMk/>
          <pc:sldMk cId="667794309" sldId="396"/>
        </pc:sldMkLst>
        <pc:spChg chg="mod">
          <ac:chgData name="Schenker Rolf (SSZ)" userId="9323b05b-0663-4187-9504-ab37973a509a" providerId="ADAL" clId="{8AA50265-4FD1-4682-B342-8B3B3327C024}" dt="2026-08-19T10:01:35.025" v="1735" actId="6549"/>
          <ac:spMkLst>
            <pc:docMk/>
            <pc:sldMk cId="667794309" sldId="396"/>
            <ac:spMk id="6" creationId="{5C1FD3D8-BEF4-8DC0-C479-7CBEBA15C1C1}"/>
          </ac:spMkLst>
        </pc:spChg>
      </pc:sldChg>
      <pc:sldChg chg="modSp mod">
        <pc:chgData name="Schenker Rolf (SSZ)" userId="9323b05b-0663-4187-9504-ab37973a509a" providerId="ADAL" clId="{8AA50265-4FD1-4682-B342-8B3B3327C024}" dt="2026-08-19T10:16:47.679" v="1905" actId="6549"/>
        <pc:sldMkLst>
          <pc:docMk/>
          <pc:sldMk cId="167715405" sldId="401"/>
        </pc:sldMkLst>
        <pc:spChg chg="mod">
          <ac:chgData name="Schenker Rolf (SSZ)" userId="9323b05b-0663-4187-9504-ab37973a509a" providerId="ADAL" clId="{8AA50265-4FD1-4682-B342-8B3B3327C024}" dt="2026-08-19T10:16:47.679" v="1905" actId="6549"/>
          <ac:spMkLst>
            <pc:docMk/>
            <pc:sldMk cId="167715405" sldId="401"/>
            <ac:spMk id="6" creationId="{76696D99-E169-DD14-44C0-CECB16E6EAC0}"/>
          </ac:spMkLst>
        </pc:spChg>
      </pc:sldChg>
      <pc:sldChg chg="modSp add mod">
        <pc:chgData name="Schenker Rolf (SSZ)" userId="9323b05b-0663-4187-9504-ab37973a509a" providerId="ADAL" clId="{8AA50265-4FD1-4682-B342-8B3B3327C024}" dt="2026-08-24T12:27:31.387" v="1934" actId="6549"/>
        <pc:sldMkLst>
          <pc:docMk/>
          <pc:sldMk cId="3519975249" sldId="402"/>
        </pc:sldMkLst>
        <pc:spChg chg="mod">
          <ac:chgData name="Schenker Rolf (SSZ)" userId="9323b05b-0663-4187-9504-ab37973a509a" providerId="ADAL" clId="{8AA50265-4FD1-4682-B342-8B3B3327C024}" dt="2026-08-24T12:27:31.387" v="1934" actId="6549"/>
          <ac:spMkLst>
            <pc:docMk/>
            <pc:sldMk cId="3519975249" sldId="402"/>
            <ac:spMk id="4" creationId="{948D04B3-C0A7-B51E-6073-4B61CEEAACC7}"/>
          </ac:spMkLst>
        </pc:spChg>
        <pc:spChg chg="mod">
          <ac:chgData name="Schenker Rolf (SSZ)" userId="9323b05b-0663-4187-9504-ab37973a509a" providerId="ADAL" clId="{8AA50265-4FD1-4682-B342-8B3B3327C024}" dt="2026-08-19T10:00:35.099" v="1734" actId="20577"/>
          <ac:spMkLst>
            <pc:docMk/>
            <pc:sldMk cId="3519975249" sldId="402"/>
            <ac:spMk id="6" creationId="{F4779FC6-3A8B-4C46-E1D1-184E21ECD959}"/>
          </ac:spMkLst>
        </pc:spChg>
      </pc:sldChg>
      <pc:sldChg chg="addSp modSp add mod">
        <pc:chgData name="Schenker Rolf (SSZ)" userId="9323b05b-0663-4187-9504-ab37973a509a" providerId="ADAL" clId="{8AA50265-4FD1-4682-B342-8B3B3327C024}" dt="2026-08-19T10:16:32.123" v="1880" actId="21"/>
        <pc:sldMkLst>
          <pc:docMk/>
          <pc:sldMk cId="1624391471" sldId="403"/>
        </pc:sldMkLst>
        <pc:spChg chg="mod">
          <ac:chgData name="Schenker Rolf (SSZ)" userId="9323b05b-0663-4187-9504-ab37973a509a" providerId="ADAL" clId="{8AA50265-4FD1-4682-B342-8B3B3327C024}" dt="2026-08-19T06:44:58.457" v="1317" actId="20577"/>
          <ac:spMkLst>
            <pc:docMk/>
            <pc:sldMk cId="1624391471" sldId="403"/>
            <ac:spMk id="4" creationId="{93A3EFD6-B09D-1F1B-961A-CDB128D1FC76}"/>
          </ac:spMkLst>
        </pc:spChg>
        <pc:spChg chg="mod">
          <ac:chgData name="Schenker Rolf (SSZ)" userId="9323b05b-0663-4187-9504-ab37973a509a" providerId="ADAL" clId="{8AA50265-4FD1-4682-B342-8B3B3327C024}" dt="2026-08-19T10:16:32.123" v="1880" actId="21"/>
          <ac:spMkLst>
            <pc:docMk/>
            <pc:sldMk cId="1624391471" sldId="403"/>
            <ac:spMk id="6" creationId="{A4D1AB77-A753-80F1-C07B-E1CF29CE3C40}"/>
          </ac:spMkLst>
        </pc:spChg>
        <pc:picChg chg="add mod">
          <ac:chgData name="Schenker Rolf (SSZ)" userId="9323b05b-0663-4187-9504-ab37973a509a" providerId="ADAL" clId="{8AA50265-4FD1-4682-B342-8B3B3327C024}" dt="2026-08-19T06:47:07.194" v="1415" actId="1076"/>
          <ac:picMkLst>
            <pc:docMk/>
            <pc:sldMk cId="1624391471" sldId="403"/>
            <ac:picMk id="2" creationId="{32014636-7172-555C-3D53-B565F9C71136}"/>
          </ac:picMkLst>
        </pc:picChg>
      </pc:sldChg>
      <pc:sldChg chg="add del">
        <pc:chgData name="Schenker Rolf (SSZ)" userId="9323b05b-0663-4187-9504-ab37973a509a" providerId="ADAL" clId="{8AA50265-4FD1-4682-B342-8B3B3327C024}" dt="2026-08-24T12:27:54.333" v="1938" actId="2890"/>
        <pc:sldMkLst>
          <pc:docMk/>
          <pc:sldMk cId="1894029703" sldId="40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D281C46-598B-4674-85E6-3387713ACEF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836614"/>
            <a:ext cx="12192000" cy="6021386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CH"/>
              <a:t>Farbfläche oder Bild</a:t>
            </a:r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A315E9DD-29D8-44C5-8481-259987F7334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3786293" y="0"/>
            <a:ext cx="8405706" cy="836614"/>
          </a:xfrm>
          <a:solidFill>
            <a:srgbClr val="0F05A0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CH"/>
              <a:t>Farbfläche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0B76195-456B-45EF-B55A-A417C882FD6B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910799" y="1484313"/>
            <a:ext cx="10369975" cy="3086814"/>
          </a:xfrm>
        </p:spPr>
        <p:txBody>
          <a:bodyPr anchor="t" anchorCtr="0"/>
          <a:lstStyle>
            <a:lvl1pPr algn="l" defTabSz="1332000">
              <a:lnSpc>
                <a:spcPct val="85000"/>
              </a:lnSpc>
              <a:tabLst>
                <a:tab pos="1332000" algn="l"/>
              </a:tabLst>
              <a:defRPr sz="520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10" name="Untertitel 2">
            <a:extLst>
              <a:ext uri="{FF2B5EF4-FFF2-40B4-BE49-F238E27FC236}">
                <a16:creationId xmlns:a16="http://schemas.microsoft.com/office/drawing/2014/main" id="{4F8D7963-D5AF-43B6-974A-E1DA8608FCF8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gray">
          <a:xfrm>
            <a:off x="947737" y="4648200"/>
            <a:ext cx="10333037" cy="148113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E04BBDE-8407-6CD0-B377-424D0F756E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00" y="186910"/>
            <a:ext cx="3307087" cy="58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35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89">
          <p15:clr>
            <a:srgbClr val="5ACBF0"/>
          </p15:clr>
        </p15:guide>
        <p15:guide id="3" orient="horz" pos="119">
          <p15:clr>
            <a:srgbClr val="5ACBF0"/>
          </p15:clr>
        </p15:guide>
        <p15:guide id="5" pos="2389">
          <p15:clr>
            <a:srgbClr val="9FCC3B"/>
          </p15:clr>
        </p15:guide>
        <p15:guide id="6" orient="horz" pos="935">
          <p15:clr>
            <a:srgbClr val="9FCC3B"/>
          </p15:clr>
        </p15:guide>
        <p15:guide id="7" pos="2275">
          <p15:clr>
            <a:srgbClr val="5ACBF0"/>
          </p15:clr>
        </p15:guide>
        <p15:guide id="8" orient="horz" pos="482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5">
            <a:extLst>
              <a:ext uri="{FF2B5EF4-FFF2-40B4-BE49-F238E27FC236}">
                <a16:creationId xmlns:a16="http://schemas.microsoft.com/office/drawing/2014/main" id="{42B54F9B-D3FF-4A8D-866A-284136B869A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6416675"/>
          </a:xfrm>
          <a:solidFill>
            <a:srgbClr val="0F05A0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CH"/>
              <a:t>Farbfläche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910799" y="800100"/>
            <a:ext cx="10369975" cy="2160000"/>
          </a:xfrm>
        </p:spPr>
        <p:txBody>
          <a:bodyPr anchor="t" anchorCtr="0"/>
          <a:lstStyle>
            <a:lvl1pPr marL="1332000" indent="-1332000" algn="l" defTabSz="1332000">
              <a:lnSpc>
                <a:spcPct val="85000"/>
              </a:lnSpc>
              <a:tabLst>
                <a:tab pos="1332000" algn="l"/>
              </a:tabLst>
              <a:defRPr sz="520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53804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504">
          <p15:clr>
            <a:srgbClr val="9FCC3B"/>
          </p15:clr>
        </p15:guide>
        <p15:guide id="8" pos="1436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_ohne_Z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5">
            <a:extLst>
              <a:ext uri="{FF2B5EF4-FFF2-40B4-BE49-F238E27FC236}">
                <a16:creationId xmlns:a16="http://schemas.microsoft.com/office/drawing/2014/main" id="{42B54F9B-D3FF-4A8D-866A-284136B869A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6416675"/>
          </a:xfrm>
          <a:solidFill>
            <a:srgbClr val="0F05A0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CH"/>
              <a:t>Farbfläche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910799" y="800100"/>
            <a:ext cx="10369975" cy="2160000"/>
          </a:xfrm>
        </p:spPr>
        <p:txBody>
          <a:bodyPr anchor="t" anchorCtr="0"/>
          <a:lstStyle>
            <a:lvl1pPr marL="0" indent="0" algn="l" defTabSz="1332000">
              <a:lnSpc>
                <a:spcPct val="85000"/>
              </a:lnSpc>
              <a:tabLst>
                <a:tab pos="1332000" algn="l"/>
              </a:tabLst>
              <a:defRPr sz="520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14379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504">
          <p15:clr>
            <a:srgbClr val="9FCC3B"/>
          </p15:clr>
        </p15:guide>
        <p15:guide id="8" pos="1436">
          <p15:clr>
            <a:srgbClr val="9FCC3B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Agenda 1sp sch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7669212" cy="4537075"/>
          </a:xfrm>
        </p:spPr>
        <p:txBody>
          <a:bodyPr tIns="10800"/>
          <a:lstStyle>
            <a:lvl1pPr marL="432000" indent="-432000">
              <a:buFont typeface="+mj-lt"/>
              <a:buAutoNum type="arabicPeriod"/>
              <a:defRPr/>
            </a:lvl1pPr>
            <a:lvl2pPr marL="288000" indent="-288000">
              <a:buFont typeface="Arial" panose="020B0604020202020204" pitchFamily="34" charset="0"/>
              <a:buChar char="–"/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42768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 1sp sch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7669212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69861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Tabelle 1sp br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2"/>
            <a:ext cx="10333036" cy="1080000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abellenplatzhalter 3">
            <a:extLst>
              <a:ext uri="{FF2B5EF4-FFF2-40B4-BE49-F238E27FC236}">
                <a16:creationId xmlns:a16="http://schemas.microsoft.com/office/drawing/2014/main" id="{4792EB63-54C5-40F1-8562-1BE44DCAB58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47738" y="2818800"/>
            <a:ext cx="10333037" cy="3310538"/>
          </a:xfrm>
        </p:spPr>
        <p:txBody>
          <a:bodyPr tIns="0"/>
          <a:lstStyle>
            <a:lvl1pPr marL="0" indent="0">
              <a:buNone/>
              <a:defRPr sz="2000"/>
            </a:lvl1pPr>
          </a:lstStyle>
          <a:p>
            <a:r>
              <a:rPr lang="de-DE"/>
              <a:t>Tabelle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46342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15" pos="3953">
          <p15:clr>
            <a:srgbClr val="FBAE40"/>
          </p15:clr>
        </p15:guide>
        <p15:guide id="16" pos="2842">
          <p15:clr>
            <a:srgbClr val="FBAE40"/>
          </p15:clr>
        </p15:guide>
        <p15:guide id="17" pos="2638">
          <p15:clr>
            <a:srgbClr val="FBAE40"/>
          </p15:clr>
        </p15:guide>
        <p15:guide id="18" pos="1731">
          <p15:clr>
            <a:srgbClr val="FBAE40"/>
          </p15:clr>
        </p15:guide>
        <p15:guide id="19" pos="4861">
          <p15:clr>
            <a:srgbClr val="FBAE40"/>
          </p15:clr>
        </p15:guide>
        <p15:guide id="20" pos="5065">
          <p15:clr>
            <a:srgbClr val="FBAE40"/>
          </p15:clr>
        </p15:guide>
        <p15:guide id="21" pos="5972">
          <p15:clr>
            <a:srgbClr val="FBAE40"/>
          </p15:clr>
        </p15:guide>
        <p15:guide id="22" pos="617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 2s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50038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8451A51A-09FC-4B95-89D1-E82D20CB7E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76975" y="1592263"/>
            <a:ext cx="50038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49009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Marginal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69120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24F5E5-2C7D-41C2-A033-B6C11DBDF4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40800" y="1592263"/>
            <a:ext cx="2339975" cy="4537075"/>
          </a:xfrm>
        </p:spPr>
        <p:txBody>
          <a:bodyPr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54703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Marginal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1CE32EB3-BB4F-4253-8B37-E5C687C818A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7739" y="1700212"/>
            <a:ext cx="6769099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8B1C4A34-5315-4BB8-9A0B-2D7758DDF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40688" y="1592263"/>
            <a:ext cx="3240087" cy="4537075"/>
          </a:xfrm>
        </p:spPr>
        <p:txBody>
          <a:bodyPr tIns="36000"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613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4" pos="3749">
          <p15:clr>
            <a:srgbClr val="FBAE40"/>
          </p15:clr>
        </p15:guide>
        <p15:guide id="5" pos="3953">
          <p15:clr>
            <a:srgbClr val="FBAE40"/>
          </p15:clr>
        </p15:guide>
        <p15:guide id="6" pos="2842">
          <p15:clr>
            <a:srgbClr val="FBAE40"/>
          </p15:clr>
        </p15:guide>
        <p15:guide id="7" pos="2638">
          <p15:clr>
            <a:srgbClr val="FBAE40"/>
          </p15:clr>
        </p15:guide>
        <p15:guide id="8" pos="1731">
          <p15:clr>
            <a:srgbClr val="FBAE40"/>
          </p15:clr>
        </p15:guide>
        <p15:guide id="9" pos="1527">
          <p15:clr>
            <a:srgbClr val="FBAE40"/>
          </p15:clr>
        </p15:guide>
        <p15:guide id="10" pos="4861">
          <p15:clr>
            <a:srgbClr val="FBAE40"/>
          </p15:clr>
        </p15:guide>
        <p15:guide id="11" pos="5065">
          <p15:clr>
            <a:srgbClr val="FBAE40"/>
          </p15:clr>
        </p15:guide>
        <p15:guide id="12" pos="5972">
          <p15:clr>
            <a:srgbClr val="FBAE40"/>
          </p15:clr>
        </p15:guide>
        <p15:guide id="13" pos="6176">
          <p15:clr>
            <a:srgbClr val="FBAE40"/>
          </p15:clr>
        </p15:guide>
        <p15:guide id="14" orient="horz" pos="1003">
          <p15:clr>
            <a:srgbClr val="9FCC3B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67691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40688" y="1700212"/>
            <a:ext cx="3240087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10229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50038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6976" y="1700212"/>
            <a:ext cx="5003800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8005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Bil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737" y="306000"/>
            <a:ext cx="5003801" cy="43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9" y="728663"/>
            <a:ext cx="5003800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DDCBD7B-7ED5-4065-A2E1-F19973BD36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5003800" cy="45370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6976" y="0"/>
            <a:ext cx="5915024" cy="641667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695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6976" y="1700212"/>
            <a:ext cx="5003800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9" name="Bildplatzhalter 5">
            <a:extLst>
              <a:ext uri="{FF2B5EF4-FFF2-40B4-BE49-F238E27FC236}">
                <a16:creationId xmlns:a16="http://schemas.microsoft.com/office/drawing/2014/main" id="{51A84F9D-26FA-4734-B9E4-2425282BDE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7738" y="1700212"/>
            <a:ext cx="5003800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86334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47738" y="1700212"/>
            <a:ext cx="10333038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38220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8" name="Bildplatzhalter 5">
            <a:extLst>
              <a:ext uri="{FF2B5EF4-FFF2-40B4-BE49-F238E27FC236}">
                <a16:creationId xmlns:a16="http://schemas.microsoft.com/office/drawing/2014/main" id="{BDDAC130-B6AD-4A62-99FE-9EE8341CA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700212"/>
            <a:ext cx="12192000" cy="4716463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56795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4" pos="778">
          <p15:clr>
            <a:srgbClr val="9FCC3B"/>
          </p15:clr>
        </p15:guide>
        <p15:guide id="5" pos="869">
          <p15:clr>
            <a:srgbClr val="9FCC3B"/>
          </p15:clr>
        </p15:guide>
        <p15:guide id="6" pos="1050">
          <p15:clr>
            <a:srgbClr val="9FCC3B"/>
          </p15:clr>
        </p15:guide>
        <p15:guide id="7" pos="1141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5">
            <a:extLst>
              <a:ext uri="{FF2B5EF4-FFF2-40B4-BE49-F238E27FC236}">
                <a16:creationId xmlns:a16="http://schemas.microsoft.com/office/drawing/2014/main" id="{1CE32EB3-BB4F-4253-8B37-E5C687C818A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41667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81290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Medienplatzhalter 3">
            <a:extLst>
              <a:ext uri="{FF2B5EF4-FFF2-40B4-BE49-F238E27FC236}">
                <a16:creationId xmlns:a16="http://schemas.microsoft.com/office/drawing/2014/main" id="{57DEFB8E-07BA-4EF8-82BC-173AA10FAEBF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947738" y="1700213"/>
            <a:ext cx="7869600" cy="4429125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09944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953">
          <p15:clr>
            <a:srgbClr val="FBAE40"/>
          </p15:clr>
        </p15:guide>
        <p15:guide id="10" pos="2842">
          <p15:clr>
            <a:srgbClr val="FBAE40"/>
          </p15:clr>
        </p15:guide>
        <p15:guide id="11" pos="2638">
          <p15:clr>
            <a:srgbClr val="FBAE40"/>
          </p15:clr>
        </p15:guide>
        <p15:guide id="12" pos="1731">
          <p15:clr>
            <a:srgbClr val="FBAE40"/>
          </p15:clr>
        </p15:guide>
        <p15:guide id="13" pos="1527">
          <p15:clr>
            <a:srgbClr val="FBAE40"/>
          </p15:clr>
        </p15:guide>
        <p15:guide id="14" pos="4861">
          <p15:clr>
            <a:srgbClr val="FBAE40"/>
          </p15:clr>
        </p15:guide>
        <p15:guide id="15" pos="5065">
          <p15:clr>
            <a:srgbClr val="FBAE40"/>
          </p15:clr>
        </p15:guide>
        <p15:guide id="16" pos="5972">
          <p15:clr>
            <a:srgbClr val="FBAE40"/>
          </p15:clr>
        </p15:guide>
        <p15:guide id="17" pos="617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enplatzhalter 2">
            <a:extLst>
              <a:ext uri="{FF2B5EF4-FFF2-40B4-BE49-F238E27FC236}">
                <a16:creationId xmlns:a16="http://schemas.microsoft.com/office/drawing/2014/main" id="{0A6C1E43-01EB-449D-B1E0-447A8B62E34B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rgbClr val="BEBEBE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DE"/>
              <a:t>Mediaclip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911443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5">
            <a:extLst>
              <a:ext uri="{FF2B5EF4-FFF2-40B4-BE49-F238E27FC236}">
                <a16:creationId xmlns:a16="http://schemas.microsoft.com/office/drawing/2014/main" id="{42B54F9B-D3FF-4A8D-866A-284136B869A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416675"/>
          </a:xfrm>
          <a:solidFill>
            <a:srgbClr val="0F05A0"/>
          </a:solidFill>
        </p:spPr>
        <p:txBody>
          <a:bodyPr/>
          <a:lstStyle>
            <a:lvl1pPr marL="0" indent="0">
              <a:buNone/>
              <a:defRPr sz="1200">
                <a:solidFill>
                  <a:srgbClr val="FFFFFF"/>
                </a:solidFill>
              </a:defRPr>
            </a:lvl1pPr>
          </a:lstStyle>
          <a:p>
            <a:r>
              <a:rPr lang="de-CH"/>
              <a:t>Farbfläche oder Bild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910799" y="800100"/>
            <a:ext cx="10369975" cy="3704167"/>
          </a:xfrm>
        </p:spPr>
        <p:txBody>
          <a:bodyPr anchor="t" anchorCtr="0"/>
          <a:lstStyle>
            <a:lvl1pPr algn="l" defTabSz="1332000">
              <a:lnSpc>
                <a:spcPct val="85000"/>
              </a:lnSpc>
              <a:tabLst>
                <a:tab pos="1332000" algn="l"/>
              </a:tabLst>
              <a:defRPr sz="520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168BAA1B-37B6-9B45-9EFD-D6B13A92724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white">
          <a:xfrm>
            <a:off x="947737" y="4648200"/>
            <a:ext cx="10333037" cy="1481138"/>
          </a:xfrm>
        </p:spPr>
        <p:txBody>
          <a:bodyPr anchor="b" anchorCtr="0"/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55037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504">
          <p15:clr>
            <a:srgbClr val="9FCC3B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8s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E6DDF3-5C05-48D7-B14F-C1A55FED1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38" y="1592463"/>
            <a:ext cx="10333038" cy="45368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36150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E6DDF3-5C05-48D7-B14F-C1A55FED1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38" y="1592463"/>
            <a:ext cx="5003800" cy="45368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D451DC2-3B08-4DD9-BFB5-6760B78B8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8" y="728663"/>
            <a:ext cx="10333037" cy="432000"/>
          </a:xfr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CH"/>
              <a:t>Masteruntertitelformat bearbeiten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178CFEF-9A98-4E48-B329-10113FDFE43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76975" y="1583326"/>
            <a:ext cx="5003800" cy="4536875"/>
          </a:xfrm>
        </p:spPr>
        <p:txBody>
          <a:bodyPr tIns="108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37204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3">
          <p15:clr>
            <a:srgbClr val="9FCC3B"/>
          </p15:clr>
        </p15:guide>
        <p15:guide id="2" orient="horz" pos="459">
          <p15:clr>
            <a:srgbClr val="9FCC3B"/>
          </p15:clr>
        </p15:guide>
        <p15:guide id="3" orient="horz" pos="187">
          <p15:clr>
            <a:srgbClr val="9FCC3B"/>
          </p15:clr>
        </p15:guide>
        <p15:guide id="8" pos="3749">
          <p15:clr>
            <a:srgbClr val="FBAE40"/>
          </p15:clr>
        </p15:guide>
        <p15:guide id="9" pos="3114">
          <p15:clr>
            <a:srgbClr val="FBAE40"/>
          </p15:clr>
        </p15:guide>
        <p15:guide id="10" pos="2910">
          <p15:clr>
            <a:srgbClr val="FBAE40"/>
          </p15:clr>
        </p15:guide>
        <p15:guide id="11" pos="2275">
          <p15:clr>
            <a:srgbClr val="FBAE40"/>
          </p15:clr>
        </p15:guide>
        <p15:guide id="12" pos="2071">
          <p15:clr>
            <a:srgbClr val="FBAE40"/>
          </p15:clr>
        </p15:guide>
        <p15:guide id="13" pos="1436">
          <p15:clr>
            <a:srgbClr val="FBAE40"/>
          </p15:clr>
        </p15:guide>
        <p15:guide id="14" pos="1232">
          <p15:clr>
            <a:srgbClr val="FBAE40"/>
          </p15:clr>
        </p15:guide>
        <p15:guide id="15" pos="3953">
          <p15:clr>
            <a:srgbClr val="FBAE40"/>
          </p15:clr>
        </p15:guide>
        <p15:guide id="16" pos="4588">
          <p15:clr>
            <a:srgbClr val="FBAE40"/>
          </p15:clr>
        </p15:guide>
        <p15:guide id="17" pos="4793">
          <p15:clr>
            <a:srgbClr val="FBAE40"/>
          </p15:clr>
        </p15:guide>
        <p15:guide id="18" pos="5428">
          <p15:clr>
            <a:srgbClr val="FBAE40"/>
          </p15:clr>
        </p15:guide>
        <p15:guide id="19" pos="5632">
          <p15:clr>
            <a:srgbClr val="FBAE40"/>
          </p15:clr>
        </p15:guide>
        <p15:guide id="20" pos="6267">
          <p15:clr>
            <a:srgbClr val="FBAE40"/>
          </p15:clr>
        </p15:guide>
        <p15:guide id="21" pos="647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 hidden="1">
            <a:extLst>
              <a:ext uri="{FF2B5EF4-FFF2-40B4-BE49-F238E27FC236}">
                <a16:creationId xmlns:a16="http://schemas.microsoft.com/office/drawing/2014/main" id="{42CEBD77-C487-4377-B0D0-3CD0AA856C0F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" y="0"/>
            <a:ext cx="12190614" cy="6858000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B907FC-8EEA-4706-98EB-1F20D0D83E2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947737" y="306000"/>
            <a:ext cx="10333038" cy="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/>
              <a:t>
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CB51EB-182E-4020-8D86-3EF8848E6CB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947738" y="1592263"/>
            <a:ext cx="10333038" cy="4537075"/>
          </a:xfrm>
          <a:prstGeom prst="rect">
            <a:avLst/>
          </a:prstGeom>
          <a:noFill/>
        </p:spPr>
        <p:txBody>
          <a:bodyPr vert="horz" lIns="0" tIns="10800" rIns="0" bIns="0" rtlCol="0">
            <a:noAutofit/>
          </a:bodyPr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  <a:p>
            <a:pPr lvl="5"/>
            <a:r>
              <a:rPr lang="de-CH"/>
              <a:t>Sechste Ebene</a:t>
            </a:r>
          </a:p>
          <a:p>
            <a:pPr lvl="6"/>
            <a:r>
              <a:rPr lang="de-CH"/>
              <a:t>Siebte Ebene</a:t>
            </a:r>
          </a:p>
        </p:txBody>
      </p:sp>
      <p:sp>
        <p:nvSpPr>
          <p:cNvPr id="8" name="Rectangle 43">
            <a:extLst>
              <a:ext uri="{FF2B5EF4-FFF2-40B4-BE49-F238E27FC236}">
                <a16:creationId xmlns:a16="http://schemas.microsoft.com/office/drawing/2014/main" id="{9A389DF1-F8C5-44D7-A997-EF60E66EAB7B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3611563" y="6502711"/>
            <a:ext cx="6336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/>
          <a:lstStyle/>
          <a:p>
            <a:pPr eaLnBrk="0" hangingPunct="0">
              <a:lnSpc>
                <a:spcPts val="1050"/>
              </a:lnSpc>
              <a:spcAft>
                <a:spcPct val="0"/>
              </a:spcAft>
            </a:pPr>
            <a:r>
              <a:rPr lang="de-CH" sz="900" dirty="0"/>
              <a:t>Von OGD zu LOD</a:t>
            </a:r>
            <a:endParaRPr lang="de-CH" sz="850" dirty="0"/>
          </a:p>
          <a:p>
            <a:pPr eaLnBrk="0" hangingPunct="0">
              <a:lnSpc>
                <a:spcPts val="1050"/>
              </a:lnSpc>
              <a:spcAft>
                <a:spcPct val="0"/>
              </a:spcAft>
            </a:pPr>
            <a:r>
              <a:rPr lang="de-CH" sz="850" dirty="0"/>
              <a:t>Jonas Bieri, Thomas Kurz, Rolf Schenker</a:t>
            </a:r>
          </a:p>
        </p:txBody>
      </p:sp>
      <p:sp>
        <p:nvSpPr>
          <p:cNvPr id="9" name="Rectangle 58">
            <a:extLst>
              <a:ext uri="{FF2B5EF4-FFF2-40B4-BE49-F238E27FC236}">
                <a16:creationId xmlns:a16="http://schemas.microsoft.com/office/drawing/2014/main" id="{CC80AC5F-917E-4DA9-940C-46B58FF9AC0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947737" y="6502711"/>
            <a:ext cx="2302933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/>
          <a:lstStyle/>
          <a:p>
            <a:pPr eaLnBrk="0" hangingPunct="0">
              <a:lnSpc>
                <a:spcPts val="1050"/>
              </a:lnSpc>
              <a:spcAft>
                <a:spcPct val="0"/>
              </a:spcAft>
            </a:pPr>
            <a:r>
              <a:rPr lang="de-CH" sz="850" dirty="0"/>
              <a:t>Stadt Zürich, Kanton Basel-Stadt, </a:t>
            </a:r>
            <a:r>
              <a:rPr lang="de-CH" sz="850" dirty="0" err="1"/>
              <a:t>Redlink</a:t>
            </a:r>
            <a:endParaRPr lang="de-CH" sz="850" dirty="0"/>
          </a:p>
        </p:txBody>
      </p:sp>
      <p:sp>
        <p:nvSpPr>
          <p:cNvPr id="16" name="Rectangle 43">
            <a:extLst>
              <a:ext uri="{FF2B5EF4-FFF2-40B4-BE49-F238E27FC236}">
                <a16:creationId xmlns:a16="http://schemas.microsoft.com/office/drawing/2014/main" id="{E5D50454-0222-4583-B1F0-D04F419D04FB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272776" y="6502711"/>
            <a:ext cx="1008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/>
          <a:lstStyle/>
          <a:p>
            <a:pPr algn="r" eaLnBrk="0" hangingPunct="0">
              <a:lnSpc>
                <a:spcPts val="1050"/>
              </a:lnSpc>
              <a:spcAft>
                <a:spcPct val="0"/>
              </a:spcAft>
            </a:pPr>
            <a:r>
              <a:rPr lang="de-CH" sz="850" dirty="0"/>
              <a:t>25.08.2026</a:t>
            </a:r>
          </a:p>
          <a:p>
            <a:pPr algn="r" eaLnBrk="0" hangingPunct="0">
              <a:lnSpc>
                <a:spcPts val="1050"/>
              </a:lnSpc>
              <a:spcAft>
                <a:spcPct val="0"/>
              </a:spcAft>
            </a:pPr>
            <a:r>
              <a:rPr lang="de-CH" sz="850" dirty="0"/>
              <a:t>Seite </a:t>
            </a:r>
            <a:fld id="{0ACF19B7-587E-466D-97F4-48E4496BA4E6}" type="slidenum">
              <a:rPr lang="de-CH" sz="850"/>
              <a:pPr algn="r" eaLnBrk="0" hangingPunct="0">
                <a:lnSpc>
                  <a:spcPts val="1050"/>
                </a:lnSpc>
                <a:spcAft>
                  <a:spcPct val="0"/>
                </a:spcAft>
              </a:pPr>
              <a:t>‹Nr.›</a:t>
            </a:fld>
            <a:endParaRPr lang="de-CH" sz="850" dirty="0"/>
          </a:p>
        </p:txBody>
      </p:sp>
    </p:spTree>
    <p:extLst>
      <p:ext uri="{BB962C8B-B14F-4D97-AF65-F5344CB8AC3E}">
        <p14:creationId xmlns:p14="http://schemas.microsoft.com/office/powerpoint/2010/main" val="1803718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hdr="0" ftr="0" dt="0"/>
  <p:txStyles>
    <p:titleStyle>
      <a:lvl1pPr algn="l" defTabSz="914400" rtl="0" eaLnBrk="1" latinLnBrk="0" hangingPunct="1">
        <a:lnSpc>
          <a:spcPct val="113000"/>
        </a:lnSpc>
        <a:spcBef>
          <a:spcPct val="0"/>
        </a:spcBef>
        <a:buNone/>
        <a:defRPr sz="2400" kern="1200" baseline="0">
          <a:solidFill>
            <a:srgbClr val="000000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88000" indent="-288000" algn="l" defTabSz="1332000" rtl="0" eaLnBrk="1" latinLnBrk="0" hangingPunct="1">
        <a:lnSpc>
          <a:spcPct val="113000"/>
        </a:lnSpc>
        <a:spcBef>
          <a:spcPts val="0"/>
        </a:spcBef>
        <a:buClrTx/>
        <a:buFont typeface="Arial" panose="020B0604020202020204" pitchFamily="34" charset="0"/>
        <a:buChar char="–"/>
        <a:defRPr sz="2400" kern="1200" baseline="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2000" indent="-432000" algn="l" defTabSz="1332000" rtl="0" eaLnBrk="1" latinLnBrk="0" hangingPunct="1">
        <a:lnSpc>
          <a:spcPct val="113000"/>
        </a:lnSpc>
        <a:spcBef>
          <a:spcPts val="0"/>
        </a:spcBef>
        <a:buFont typeface="+mj-lt"/>
        <a:buAutoNum type="arabicPeriod"/>
        <a:defRPr sz="2400" kern="1200" baseline="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0" indent="0" algn="l" defTabSz="13320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None/>
        <a:defRPr sz="2400" kern="1200" baseline="0">
          <a:solidFill>
            <a:srgbClr val="000000"/>
          </a:solidFill>
          <a:latin typeface="Arial Black" panose="020B0A04020102020204" pitchFamily="34" charset="0"/>
          <a:ea typeface="+mn-ea"/>
          <a:cs typeface="Arial" panose="020B0604020202020204" pitchFamily="34" charset="0"/>
        </a:defRPr>
      </a:lvl3pPr>
      <a:lvl4pPr marL="432000" indent="-432000" algn="l" defTabSz="1332000" rtl="0" eaLnBrk="1" latinLnBrk="0" hangingPunct="1">
        <a:lnSpc>
          <a:spcPct val="113000"/>
        </a:lnSpc>
        <a:spcBef>
          <a:spcPts val="0"/>
        </a:spcBef>
        <a:buFont typeface="+mj-lt"/>
        <a:buAutoNum type="arabicPeriod"/>
        <a:defRPr sz="2400" kern="1200" baseline="0">
          <a:solidFill>
            <a:srgbClr val="000000"/>
          </a:solidFill>
          <a:latin typeface="Arial Black" panose="020B0A04020102020204" pitchFamily="34" charset="0"/>
          <a:ea typeface="+mn-ea"/>
          <a:cs typeface="Arial" panose="020B0604020202020204" pitchFamily="34" charset="0"/>
        </a:defRPr>
      </a:lvl4pPr>
      <a:lvl5pPr marL="576000" indent="-288000" algn="l" defTabSz="13320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720000" indent="-288000" algn="l" defTabSz="13320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1080000" indent="-648000" algn="l" defTabSz="13320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None/>
        <a:tabLst>
          <a:tab pos="648000" algn="l"/>
        </a:tabLst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0" indent="0" algn="l" defTabSz="1332000" rtl="0" eaLnBrk="1" latinLnBrk="0" hangingPunct="1">
        <a:lnSpc>
          <a:spcPct val="113000"/>
        </a:lnSpc>
        <a:spcBef>
          <a:spcPts val="0"/>
        </a:spcBef>
        <a:buFontTx/>
        <a:buNone/>
        <a:defRPr sz="2000" kern="1200">
          <a:solidFill>
            <a:srgbClr val="00000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0" indent="0" algn="l" defTabSz="1332000" rtl="0" eaLnBrk="1" latinLnBrk="0" hangingPunct="1">
        <a:lnSpc>
          <a:spcPct val="113000"/>
        </a:lnSpc>
        <a:spcBef>
          <a:spcPts val="0"/>
        </a:spcBef>
        <a:buFont typeface="+mj-lt"/>
        <a:buNone/>
        <a:defRPr sz="2000" kern="1200">
          <a:solidFill>
            <a:srgbClr val="000000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000" kern="1200">
          <a:solidFill>
            <a:srgbClr val="000000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97">
          <p15:clr>
            <a:srgbClr val="C35EA4"/>
          </p15:clr>
        </p15:guide>
        <p15:guide id="3" orient="horz" pos="255">
          <p15:clr>
            <a:srgbClr val="C35EA4"/>
          </p15:clr>
        </p15:guide>
        <p15:guide id="5" orient="horz" pos="3861">
          <p15:clr>
            <a:srgbClr val="C35EA4"/>
          </p15:clr>
        </p15:guide>
        <p15:guide id="10" orient="horz" pos="527">
          <p15:clr>
            <a:srgbClr val="C35EA4"/>
          </p15:clr>
        </p15:guide>
        <p15:guide id="26" pos="7106">
          <p15:clr>
            <a:srgbClr val="C35EA4"/>
          </p15:clr>
        </p15:guide>
        <p15:guide id="34" orient="horz" pos="1071">
          <p15:clr>
            <a:srgbClr val="C35EA4"/>
          </p15:clr>
        </p15:guide>
        <p15:guide id="38" orient="horz" pos="4088">
          <p15:clr>
            <a:srgbClr val="C35EA4"/>
          </p15:clr>
        </p15:guide>
        <p15:guide id="39" orient="horz" pos="4042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98F5E11-19BA-6695-EF62-EFFD82EDF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7B0EA6B4-0738-C82E-B319-D5BF8DE7F2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solidFill>
            <a:schemeClr val="accent2"/>
          </a:solidFill>
        </p:spPr>
        <p:txBody>
          <a:bodyPr/>
          <a:lstStyle/>
          <a:p>
            <a:endParaRPr lang="de-CH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AE8790F-A91B-3F82-50BB-8D40ABCB29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648252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21F31E7-2474-A49F-95C8-0AD744393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B201B8B-3DF7-3C3C-45BE-8DB4F934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Problem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B55706E-0866-BA57-9255-FBF9CD3AFE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0607213-8F0E-09E5-F6C0-B7DADDE868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10333036" cy="4537075"/>
          </a:xfrm>
        </p:spPr>
        <p:txBody>
          <a:bodyPr/>
          <a:lstStyle/>
          <a:p>
            <a:pPr marL="0" indent="0">
              <a:buNone/>
            </a:pPr>
            <a:r>
              <a:rPr lang="de-CH" dirty="0"/>
              <a:t>«Wie hat sich die Bevölkerung in Zürich und Basel seit 1900 entwickelt?»</a:t>
            </a:r>
          </a:p>
          <a:p>
            <a:pPr marL="0" indent="0">
              <a:buNone/>
            </a:pPr>
            <a:endParaRPr lang="de-CH" sz="1600" dirty="0"/>
          </a:p>
          <a:p>
            <a:r>
              <a:rPr lang="de-CH" dirty="0"/>
              <a:t>Bot muss Web-Portal durchsuchen. Und die meisten Portale sind für Menschen optimiert, nicht für Maschinen…</a:t>
            </a:r>
          </a:p>
          <a:p>
            <a:pPr marL="0" indent="0">
              <a:buNone/>
            </a:pPr>
            <a:endParaRPr lang="de-CH" sz="1600" dirty="0"/>
          </a:p>
          <a:p>
            <a:r>
              <a:rPr lang="de-CH" dirty="0"/>
              <a:t>Klingt einfach, ist es aber nicht…</a:t>
            </a:r>
          </a:p>
          <a:p>
            <a:pPr lvl="4"/>
            <a:r>
              <a:rPr lang="de-CH" dirty="0"/>
              <a:t>Stadt oder Kanton? </a:t>
            </a:r>
          </a:p>
          <a:p>
            <a:pPr lvl="4"/>
            <a:r>
              <a:rPr lang="de-CH" dirty="0"/>
              <a:t>Was ist mit Eingemeindungen?</a:t>
            </a:r>
          </a:p>
          <a:p>
            <a:pPr lvl="4"/>
            <a:r>
              <a:rPr lang="de-CH" dirty="0"/>
              <a:t>Was wird gezählt? Immer und überall dieselbe Definition?</a:t>
            </a:r>
          </a:p>
          <a:p>
            <a:pPr lvl="4"/>
            <a:r>
              <a:rPr lang="de-CH" dirty="0"/>
              <a:t>In den Tabellen sind diese Informationen meist gut versteckt. </a:t>
            </a:r>
          </a:p>
          <a:p>
            <a:pPr marL="0" indent="0">
              <a:buNone/>
            </a:pPr>
            <a:endParaRPr lang="de-CH" sz="1600" dirty="0"/>
          </a:p>
          <a:p>
            <a:r>
              <a:rPr lang="de-CH" dirty="0"/>
              <a:t>Das Problem ist nicht die Berechnung, sondern die Bedeutung </a:t>
            </a:r>
            <a:br>
              <a:rPr lang="de-CH" dirty="0"/>
            </a:br>
            <a:r>
              <a:rPr lang="de-CH" dirty="0"/>
              <a:t>der Zahlen, der sogenannten Semantik. </a:t>
            </a:r>
          </a:p>
        </p:txBody>
      </p:sp>
    </p:spTree>
    <p:extLst>
      <p:ext uri="{BB962C8B-B14F-4D97-AF65-F5344CB8AC3E}">
        <p14:creationId xmlns:p14="http://schemas.microsoft.com/office/powerpoint/2010/main" val="26605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1BC75-39C0-0D1B-44E3-B69FA068B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FA367F95-266D-941A-82A5-AB5C623F969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solidFill>
            <a:schemeClr val="accent2"/>
          </a:solidFill>
        </p:spPr>
        <p:txBody>
          <a:bodyPr/>
          <a:lstStyle/>
          <a:p>
            <a:endParaRPr lang="de-CH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EBEDC67-E947-8871-56F1-2CBCB25413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Episode 2: </a:t>
            </a:r>
            <a:br>
              <a:rPr lang="de-CH" dirty="0"/>
            </a:br>
            <a:r>
              <a:rPr lang="de-CH" dirty="0"/>
              <a:t>Linked Open Data</a:t>
            </a:r>
          </a:p>
        </p:txBody>
      </p:sp>
    </p:spTree>
    <p:extLst>
      <p:ext uri="{BB962C8B-B14F-4D97-AF65-F5344CB8AC3E}">
        <p14:creationId xmlns:p14="http://schemas.microsoft.com/office/powerpoint/2010/main" val="2367890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43B04-0804-F1BA-7367-2823576DB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48D04B3-C0A7-B51E-6073-4B61CEEA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Episode 2: Linked Open Data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60FF163-E809-303C-6D8B-CDBF3EE9CC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4779FC6-3A8B-4C46-E1D1-184E21ECD9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10333036" cy="4537075"/>
          </a:xfrm>
        </p:spPr>
        <p:txBody>
          <a:bodyPr/>
          <a:lstStyle/>
          <a:p>
            <a:r>
              <a:rPr lang="de-CH" dirty="0"/>
              <a:t>5-Sterne-Modell der offenen Daten: «Verwendet Identifier, geteilte Vokabulare und verknüpft Eure Daten». Innerhalb und nach aussen.</a:t>
            </a:r>
          </a:p>
          <a:p>
            <a:endParaRPr lang="de-CH" dirty="0"/>
          </a:p>
          <a:p>
            <a:r>
              <a:rPr lang="de-CH" dirty="0" err="1"/>
              <a:t>Agentische</a:t>
            </a:r>
            <a:r>
              <a:rPr lang="de-CH" dirty="0"/>
              <a:t> Systeme können im Graph navigieren. </a:t>
            </a:r>
          </a:p>
          <a:p>
            <a:r>
              <a:rPr lang="de-CH" dirty="0"/>
              <a:t>So können sie von einer Zahl zu ihrer Bedeutung navigieren, ohne dass jemand diesen Weg vorher programmiert hat.</a:t>
            </a:r>
          </a:p>
          <a:p>
            <a:endParaRPr lang="de-CH" dirty="0"/>
          </a:p>
          <a:p>
            <a:r>
              <a:rPr lang="de-CH" dirty="0"/>
              <a:t>Mit Linked Data ist die Bedeutung der Datenpunkte klar.</a:t>
            </a:r>
          </a:p>
          <a:p>
            <a:r>
              <a:rPr lang="de-CH" dirty="0"/>
              <a:t>Und sie ist auch maschinenlesbar, direkt am Datenpunkt verlinkt!</a:t>
            </a:r>
          </a:p>
          <a:p>
            <a:r>
              <a:rPr lang="de-CH" dirty="0"/>
              <a:t>Die öffentliche Statistik hat dieses Konzept seit 15 Jahren</a:t>
            </a:r>
          </a:p>
        </p:txBody>
      </p:sp>
    </p:spTree>
    <p:extLst>
      <p:ext uri="{BB962C8B-B14F-4D97-AF65-F5344CB8AC3E}">
        <p14:creationId xmlns:p14="http://schemas.microsoft.com/office/powerpoint/2010/main" val="3519975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BEF10-741B-6D03-414D-C8DC4F86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0AADC8D-C8B8-76AA-86A4-7DC1246C37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solidFill>
            <a:schemeClr val="accent2"/>
          </a:solidFill>
        </p:spPr>
        <p:txBody>
          <a:bodyPr/>
          <a:lstStyle/>
          <a:p>
            <a:endParaRPr lang="de-CH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CF2CAFE-A23F-29F1-3819-B32C83082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Aber ist RDF nicht </a:t>
            </a:r>
            <a:r>
              <a:rPr lang="de-CH" dirty="0" err="1"/>
              <a:t>mega</a:t>
            </a:r>
            <a:r>
              <a:rPr lang="de-CH" dirty="0"/>
              <a:t> aufwändig?</a:t>
            </a:r>
          </a:p>
        </p:txBody>
      </p:sp>
    </p:spTree>
    <p:extLst>
      <p:ext uri="{BB962C8B-B14F-4D97-AF65-F5344CB8AC3E}">
        <p14:creationId xmlns:p14="http://schemas.microsoft.com/office/powerpoint/2010/main" val="834992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AA44F-7847-D615-892C-E670CB862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558398B-3B8F-AA95-EDDB-03891A9C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Aber ist RDF nicht </a:t>
            </a:r>
            <a:r>
              <a:rPr lang="de-CH" dirty="0" err="1"/>
              <a:t>mega</a:t>
            </a:r>
            <a:r>
              <a:rPr lang="de-CH" dirty="0"/>
              <a:t> aufwändig?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4B7E7FD-102E-42F6-F4DE-26EA71DD59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C1FD3D8-BEF4-8DC0-C479-7CBEBA15C1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10333036" cy="4537075"/>
          </a:xfrm>
        </p:spPr>
        <p:txBody>
          <a:bodyPr/>
          <a:lstStyle/>
          <a:p>
            <a:r>
              <a:rPr lang="de-CH" dirty="0"/>
              <a:t>Der Standardeinwand, und er war berechtigt: </a:t>
            </a:r>
          </a:p>
          <a:p>
            <a:pPr lvl="4"/>
            <a:r>
              <a:rPr lang="de-CH" dirty="0"/>
              <a:t>Struktur verstehen</a:t>
            </a:r>
          </a:p>
          <a:p>
            <a:pPr lvl="4"/>
            <a:r>
              <a:rPr lang="de-CH" dirty="0"/>
              <a:t>Ontologien kennen</a:t>
            </a:r>
          </a:p>
          <a:p>
            <a:pPr lvl="4"/>
            <a:r>
              <a:rPr lang="de-CH" dirty="0"/>
              <a:t>Beschreibungen von Hand schreiben</a:t>
            </a:r>
          </a:p>
          <a:p>
            <a:pPr lvl="4"/>
            <a:r>
              <a:rPr lang="de-CH" dirty="0"/>
              <a:t>Pipeline zur Konvertierung der Daten implementieren</a:t>
            </a:r>
          </a:p>
          <a:p>
            <a:pPr lvl="4"/>
            <a:endParaRPr lang="de-CH" dirty="0"/>
          </a:p>
          <a:p>
            <a:r>
              <a:rPr lang="de-CH" dirty="0"/>
              <a:t>Initialer Aufwand ist gross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67794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AB595-FD00-CC9A-5003-139F456D9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20B1A586-37E4-FFEB-2C82-437625A9368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solidFill>
            <a:schemeClr val="accent2"/>
          </a:solidFill>
        </p:spPr>
        <p:txBody>
          <a:bodyPr/>
          <a:lstStyle/>
          <a:p>
            <a:endParaRPr lang="de-CH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30F35AF-E7A2-D8E3-7A34-5C9FF74B59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3907053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DB945-D978-B3C4-BF6B-F83244FB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C3E45B0-3E92-769E-01D4-7EFB7AD9F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Fazit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BFCF21-DFEA-6822-2AB2-478D744AF0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6696D99-E169-DD14-44C0-CECB16E6EA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10333036" cy="4537075"/>
          </a:xfrm>
        </p:spPr>
        <p:txBody>
          <a:bodyPr/>
          <a:lstStyle/>
          <a:p>
            <a:r>
              <a:rPr lang="de-CH" dirty="0"/>
              <a:t>Maschinen sind primäre Konsumenten – deshalb brauchen wir eine maschinenlesbare Semantik. LOD liefert genau das.</a:t>
            </a:r>
          </a:p>
          <a:p>
            <a:endParaRPr lang="de-CH" dirty="0"/>
          </a:p>
          <a:p>
            <a:r>
              <a:rPr lang="de-CH" dirty="0"/>
              <a:t>OGD </a:t>
            </a:r>
            <a:r>
              <a:rPr lang="de-CH" dirty="0" err="1"/>
              <a:t>to</a:t>
            </a:r>
            <a:r>
              <a:rPr lang="de-CH" dirty="0"/>
              <a:t> LOD </a:t>
            </a:r>
          </a:p>
          <a:p>
            <a:pPr lvl="4"/>
            <a:r>
              <a:rPr lang="de-CH" dirty="0"/>
              <a:t>ist ein </a:t>
            </a:r>
            <a:r>
              <a:rPr lang="de-CH" dirty="0" err="1"/>
              <a:t>OpenSource</a:t>
            </a:r>
            <a:r>
              <a:rPr lang="de-CH" dirty="0"/>
              <a:t> Tool,</a:t>
            </a:r>
          </a:p>
          <a:p>
            <a:pPr lvl="4"/>
            <a:r>
              <a:rPr lang="de-CH" dirty="0"/>
              <a:t>kann OGD in qualitativ gute LOD verwandeln,</a:t>
            </a:r>
          </a:p>
          <a:p>
            <a:pPr lvl="4"/>
            <a:r>
              <a:rPr lang="de-CH" dirty="0"/>
              <a:t>senkt so die Einstiegshürde für den Bestand.</a:t>
            </a:r>
          </a:p>
          <a:p>
            <a:pPr lvl="4"/>
            <a:endParaRPr lang="de-CH" dirty="0"/>
          </a:p>
          <a:p>
            <a:r>
              <a:rPr lang="de-CH" dirty="0">
                <a:latin typeface="+mn-lt"/>
              </a:rPr>
              <a:t>Wer heute Linked Open Data publiziert, bekommt den </a:t>
            </a:r>
            <a:r>
              <a:rPr lang="de-CH" dirty="0" err="1">
                <a:latin typeface="+mn-lt"/>
              </a:rPr>
              <a:t>Semantic</a:t>
            </a:r>
            <a:r>
              <a:rPr lang="de-CH" dirty="0">
                <a:latin typeface="+mn-lt"/>
              </a:rPr>
              <a:t> Layer gratis mit und ist bereit für </a:t>
            </a:r>
            <a:r>
              <a:rPr lang="de-CH" dirty="0" err="1">
                <a:latin typeface="+mn-lt"/>
              </a:rPr>
              <a:t>Agentic</a:t>
            </a:r>
            <a:r>
              <a:rPr lang="de-CH" dirty="0">
                <a:latin typeface="+mn-lt"/>
              </a:rPr>
              <a:t> Analytics.</a:t>
            </a:r>
          </a:p>
          <a:p>
            <a:endParaRPr lang="de-CH" dirty="0">
              <a:latin typeface="+mn-lt"/>
            </a:endParaRPr>
          </a:p>
          <a:p>
            <a:r>
              <a:rPr lang="de-CH" dirty="0" err="1"/>
              <a:t>Huwise</a:t>
            </a:r>
            <a:r>
              <a:rPr lang="de-CH" dirty="0"/>
              <a:t>-Kunden: ihr könnt direkt loslegen, CKAN </a:t>
            </a:r>
            <a:r>
              <a:rPr lang="de-CH"/>
              <a:t>kommt bald!</a:t>
            </a:r>
            <a:endParaRPr lang="de-CH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715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4BC75-09E1-F50D-4394-825D188B3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3A3EFD6-B09D-1F1B-961A-CDB128D1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Einladung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3EAB733-01FD-4AAA-3DD4-434CE422A0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4D1AB77-A753-80F1-C07B-E1CF29CE3C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7738" y="1592263"/>
            <a:ext cx="3470914" cy="4537075"/>
          </a:xfrm>
        </p:spPr>
        <p:txBody>
          <a:bodyPr/>
          <a:lstStyle/>
          <a:p>
            <a:pPr marL="0" indent="0">
              <a:buNone/>
            </a:pPr>
            <a:r>
              <a:rPr lang="de-CH" dirty="0"/>
              <a:t>Wenn ihr Interesse habt, Eure OGD als LOD </a:t>
            </a:r>
          </a:p>
          <a:p>
            <a:pPr marL="0" indent="0">
              <a:buNone/>
            </a:pPr>
            <a:r>
              <a:rPr lang="de-CH" dirty="0"/>
              <a:t>zu publizieren: </a:t>
            </a:r>
            <a:br>
              <a:rPr lang="de-CH" dirty="0"/>
            </a:br>
            <a:r>
              <a:rPr lang="de-CH" dirty="0"/>
              <a:t>Meldet Euch, </a:t>
            </a:r>
            <a:br>
              <a:rPr lang="de-CH" dirty="0"/>
            </a:br>
            <a:r>
              <a:rPr lang="de-CH" dirty="0"/>
              <a:t>wir helfen Euch gern!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r>
              <a:rPr lang="de-CH" sz="1600" dirty="0"/>
              <a:t>Bild: </a:t>
            </a:r>
            <a:r>
              <a:rPr lang="de-CH" sz="1600" dirty="0" err="1"/>
              <a:t>GovTech</a:t>
            </a:r>
            <a:r>
              <a:rPr lang="de-CH" sz="1600" dirty="0"/>
              <a:t> Hackathon, Mai 2026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2014636-7172-555C-3D53-B565F9C71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653" y="1160663"/>
            <a:ext cx="6862121" cy="514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91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00806BD-91C9-4C41-B905-765C546F07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solidFill>
            <a:srgbClr val="A31413"/>
          </a:solidFill>
        </p:spPr>
        <p:txBody>
          <a:bodyPr/>
          <a:lstStyle/>
          <a:p>
            <a:endParaRPr lang="de-CH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F7B4435-FB30-466A-90C0-5C84BEE340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/>
              <a:t>Vielen Dank.</a:t>
            </a:r>
          </a:p>
        </p:txBody>
      </p:sp>
      <p:sp>
        <p:nvSpPr>
          <p:cNvPr id="7" name="Untertitel 6">
            <a:extLst>
              <a:ext uri="{FF2B5EF4-FFF2-40B4-BE49-F238E27FC236}">
                <a16:creationId xmlns:a16="http://schemas.microsoft.com/office/drawing/2014/main" id="{89CB9930-A58B-554E-AD59-F62D0E2D84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>
                <a:latin typeface="Arial"/>
                <a:cs typeface="Arial"/>
              </a:rPr>
              <a:t>Rorschach, 25.08.2026</a:t>
            </a:r>
          </a:p>
          <a:p>
            <a:r>
              <a:rPr lang="de-CH" dirty="0">
                <a:latin typeface="Arial"/>
                <a:cs typeface="Arial"/>
              </a:rPr>
              <a:t>Jonas Bieri, Thomas Kurz, Rolf Schenker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67015207"/>
      </p:ext>
    </p:extLst>
  </p:cSld>
  <p:clrMapOvr>
    <a:masterClrMapping/>
  </p:clrMapOvr>
</p:sld>
</file>

<file path=ppt/theme/theme1.xml><?xml version="1.0" encoding="utf-8"?>
<a:theme xmlns:a="http://schemas.openxmlformats.org/drawingml/2006/main" name="Stadt Zürich">
  <a:themeElements>
    <a:clrScheme name="Stadt Zürich - Farben">
      <a:dk1>
        <a:srgbClr val="000000"/>
      </a:dk1>
      <a:lt1>
        <a:srgbClr val="FFFFFF"/>
      </a:lt1>
      <a:dk2>
        <a:srgbClr val="0F05A0"/>
      </a:dk2>
      <a:lt2>
        <a:srgbClr val="FFFFFF"/>
      </a:lt2>
      <a:accent1>
        <a:srgbClr val="3431DE"/>
      </a:accent1>
      <a:accent2>
        <a:srgbClr val="A31413"/>
      </a:accent2>
      <a:accent3>
        <a:srgbClr val="EB5E00"/>
      </a:accent3>
      <a:accent4>
        <a:srgbClr val="FBB900"/>
      </a:accent4>
      <a:accent5>
        <a:srgbClr val="06751E"/>
      </a:accent5>
      <a:accent6>
        <a:srgbClr val="989898"/>
      </a:accent6>
      <a:hlink>
        <a:srgbClr val="0F05A0"/>
      </a:hlink>
      <a:folHlink>
        <a:srgbClr val="545050"/>
      </a:folHlink>
    </a:clrScheme>
    <a:fontScheme name="STZ_Fonts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0" tIns="0" rIns="0" bIns="0" rtlCol="0" anchor="t" anchorCtr="0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Stadt Zürich - Farben">
        <a:dk1>
          <a:srgbClr val="000000"/>
        </a:dk1>
        <a:lt1>
          <a:srgbClr val="FFFFFF"/>
        </a:lt1>
        <a:dk2>
          <a:srgbClr val="0F05A0"/>
        </a:dk2>
        <a:lt2>
          <a:srgbClr val="FFFFFF"/>
        </a:lt2>
        <a:accent1>
          <a:srgbClr val="3431DE"/>
        </a:accent1>
        <a:accent2>
          <a:srgbClr val="A31413"/>
        </a:accent2>
        <a:accent3>
          <a:srgbClr val="EB5E00"/>
        </a:accent3>
        <a:accent4>
          <a:srgbClr val="FBB900"/>
        </a:accent4>
        <a:accent5>
          <a:srgbClr val="06751E"/>
        </a:accent5>
        <a:accent6>
          <a:srgbClr val="989898"/>
        </a:accent6>
        <a:hlink>
          <a:srgbClr val="0F05A0"/>
        </a:hlink>
        <a:folHlink>
          <a:srgbClr val="54505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Zitronengelb 70">
      <a:srgbClr val="CCBA10"/>
    </a:custClr>
    <a:custClr name="Zitronengelb 40">
      <a:srgbClr val="FFF369"/>
    </a:custClr>
    <a:custClr name="Zitronengelb 20">
      <a:srgbClr val="FFFEC9"/>
    </a:custClr>
    <a:custClr name="Lemongrass 70">
      <a:srgbClr val="92A210"/>
    </a:custClr>
    <a:custClr name="Lemongrass 40">
      <a:srgbClr val="E0E721"/>
    </a:custClr>
    <a:custClr name="Lemongrass 20">
      <a:srgbClr val="FAFAB5"/>
    </a:custClr>
    <a:custClr name="Lindengrün 70">
      <a:srgbClr val="53831B"/>
    </a:custClr>
    <a:custClr name="Lindengrün 40">
      <a:srgbClr val="B9D55C"/>
    </a:custClr>
    <a:custClr name="Lindengrün 20">
      <a:srgbClr val="E7F6C0"/>
    </a:custClr>
    <a:custClr name="Kleeblatt 70">
      <a:srgbClr val="06751E"/>
    </a:custClr>
    <a:custClr name="Kleeblatt 40">
      <a:srgbClr val="8ECF69"/>
    </a:custClr>
    <a:custClr name="Tannengrün 70">
      <a:srgbClr val="006831"/>
    </a:custClr>
    <a:custClr name="Tannengrün 40">
      <a:srgbClr val="65CD8C"/>
    </a:custClr>
    <a:custClr name="Tannengrün 20">
      <a:srgbClr val="CFEED8"/>
    </a:custClr>
    <a:custClr name="Petrol 70">
      <a:srgbClr val="005857"/>
    </a:custClr>
    <a:custClr name="Petrol 40">
      <a:srgbClr val="2AC7C7"/>
    </a:custClr>
    <a:custClr name="Petrol 20">
      <a:srgbClr val="B5F4F4"/>
    </a:custClr>
    <a:custClr name="Cyan 70">
      <a:srgbClr val="004D76"/>
    </a:custClr>
    <a:custClr name="Cyan 40">
      <a:srgbClr val="23C3F1"/>
    </a:custClr>
    <a:custClr name="Kobaltblau 70">
      <a:srgbClr val="002F96"/>
    </a:custClr>
    <a:custClr name="Kobaltblau 40">
      <a:srgbClr val="46B2FF"/>
    </a:custClr>
    <a:custClr name="Kobaltblau 20">
      <a:srgbClr val="C5E7FF"/>
    </a:custClr>
    <a:custClr name="Mitternachtsblau 70 - Züriblau">
      <a:srgbClr val="0F05A0"/>
    </a:custClr>
    <a:custClr name="Mitternachtsblau 40">
      <a:srgbClr val="6496FF"/>
    </a:custClr>
    <a:custClr name="Mitternachtsblau 20">
      <a:srgbClr val="C5DBFF"/>
    </a:custClr>
    <a:custClr name="Violett 70">
      <a:srgbClr val="512480"/>
    </a:custClr>
    <a:custClr name="Violett 40">
      <a:srgbClr val="BC92FF"/>
    </a:custClr>
    <a:custClr name="Violett 20">
      <a:srgbClr val="E3D6FB"/>
    </a:custClr>
    <a:custClr name="Magenta 70">
      <a:srgbClr val="960055"/>
    </a:custClr>
    <a:custClr name="Magenta 40">
      <a:srgbClr val="F36BA6"/>
    </a:custClr>
    <a:custClr name="Rot 70">
      <a:srgbClr val="A31413"/>
    </a:custClr>
    <a:custClr name="Rot 40">
      <a:srgbClr val="FB737E"/>
    </a:custClr>
    <a:custClr name="Rot 20">
      <a:srgbClr val="FAD7E0"/>
    </a:custClr>
    <a:custClr name="Koralle 70">
      <a:srgbClr val="B80B2E"/>
    </a:custClr>
    <a:custClr name="Koralle 40">
      <a:srgbClr val="F18785"/>
    </a:custClr>
    <a:custClr name="Koralle 20">
      <a:srgbClr val="FBDBD4"/>
    </a:custClr>
    <a:custClr name="Sonnengelb 70">
      <a:srgbClr val="C08600"/>
    </a:custClr>
    <a:custClr name="Sonnengelb 40">
      <a:srgbClr val="FFDF61"/>
    </a:custClr>
    <a:custClr name="Sonnengelb 20">
      <a:srgbClr val="FFEEB6"/>
    </a:custClr>
    <a:custClr name="Orange 70">
      <a:srgbClr val="B23A01"/>
    </a:custClr>
    <a:custClr name="Orange 40">
      <a:srgbClr val="F6A960"/>
    </a:custClr>
    <a:custClr name="Ocker 70">
      <a:srgbClr val="9A5B01"/>
    </a:custClr>
    <a:custClr name="Ocker 40">
      <a:srgbClr val="DA9E49"/>
    </a:custClr>
    <a:custClr name="Ocker 20">
      <a:srgbClr val="EFE2C8"/>
    </a:custClr>
    <a:custClr name="Warm Gray 70">
      <a:srgbClr val="545050"/>
    </a:custClr>
    <a:custClr name="Warm Gray 40">
      <a:srgbClr val="ACA8A8"/>
    </a:custClr>
    <a:custClr name="Gray 70">
      <a:srgbClr val="7C7C7C"/>
    </a:custClr>
    <a:custClr name="Gray 40">
      <a:srgbClr val="C2C2C2"/>
    </a:custClr>
    <a:custClr name="Cool Gray 70">
      <a:srgbClr val="3D575E"/>
    </a:custClr>
    <a:custClr name="Cool Gray 40">
      <a:srgbClr val="8DAFBC"/>
    </a:custClr>
  </a:custClrLst>
  <a:extLst>
    <a:ext uri="{05A4C25C-085E-4340-85A3-A5531E510DB2}">
      <thm15:themeFamily xmlns:thm15="http://schemas.microsoft.com/office/thememl/2012/main" name="STZH_PowerPoint_Mustervorlage.potx" id="{7FE04274-37A3-485B-B1E2-D66A5A471B65}" vid="{326A7361-7184-46B9-9369-7167D7278E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9E02BD6E265A546AB70B38C844D6E4C" ma:contentTypeVersion="16" ma:contentTypeDescription="Ein neues Dokument erstellen." ma:contentTypeScope="" ma:versionID="b58370d6699e110654f0aff41453b443">
  <xsd:schema xmlns:xsd="http://www.w3.org/2001/XMLSchema" xmlns:xs="http://www.w3.org/2001/XMLSchema" xmlns:p="http://schemas.microsoft.com/office/2006/metadata/properties" xmlns:ns2="2b4d10d7-8b4c-4134-8471-e153dc45fa69" xmlns:ns3="e601c3d8-240c-4cd6-a491-4f7cb4f8bd62" targetNamespace="http://schemas.microsoft.com/office/2006/metadata/properties" ma:root="true" ma:fieldsID="df1601da78d6e9ff0712e1658d2eeb64" ns2:_="" ns3:_="">
    <xsd:import namespace="2b4d10d7-8b4c-4134-8471-e153dc45fa69"/>
    <xsd:import namespace="e601c3d8-240c-4cd6-a491-4f7cb4f8bd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4d10d7-8b4c-4134-8471-e153dc45fa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839f2269-781a-4685-93c2-e7c2f58a0f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01c3d8-240c-4cd6-a491-4f7cb4f8bd6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a8f20cb9-2008-4994-8fc9-5696180c6d2f}" ma:internalName="TaxCatchAll" ma:showField="CatchAllData" ma:web="e601c3d8-240c-4cd6-a491-4f7cb4f8bd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b4d10d7-8b4c-4134-8471-e153dc45fa69">
      <Terms xmlns="http://schemas.microsoft.com/office/infopath/2007/PartnerControls"/>
    </lcf76f155ced4ddcb4097134ff3c332f>
    <TaxCatchAll xmlns="e601c3d8-240c-4cd6-a491-4f7cb4f8bd62" xsi:nil="true"/>
  </documentManagement>
</p:properties>
</file>

<file path=customXml/itemProps1.xml><?xml version="1.0" encoding="utf-8"?>
<ds:datastoreItem xmlns:ds="http://schemas.openxmlformats.org/officeDocument/2006/customXml" ds:itemID="{C573DC71-E737-46FD-BD00-0DAB2CB2D6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67EC99-32EF-4FE1-A070-B3B534F59490}">
  <ds:schemaRefs>
    <ds:schemaRef ds:uri="2b4d10d7-8b4c-4134-8471-e153dc45fa69"/>
    <ds:schemaRef ds:uri="e601c3d8-240c-4cd6-a491-4f7cb4f8bd6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19604C7-2D53-4136-AE17-E5FD3E447471}">
  <ds:schemaRefs>
    <ds:schemaRef ds:uri="http://schemas.microsoft.com/office/2006/documentManagement/types"/>
    <ds:schemaRef ds:uri="http://purl.org/dc/elements/1.1/"/>
    <ds:schemaRef ds:uri="e601c3d8-240c-4cd6-a491-4f7cb4f8bd62"/>
    <ds:schemaRef ds:uri="2b4d10d7-8b4c-4134-8471-e153dc45fa69"/>
    <ds:schemaRef ds:uri="http://purl.org/dc/terms/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</Words>
  <Application>Microsoft Office PowerPoint</Application>
  <PresentationFormat>Breitbild</PresentationFormat>
  <Paragraphs>53</Paragraphs>
  <Slides>10</Slides>
  <Notes>0</Notes>
  <HiddenSlides>3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Stadt Zürich</vt:lpstr>
      <vt:lpstr>Problem</vt:lpstr>
      <vt:lpstr>Problem</vt:lpstr>
      <vt:lpstr>Episode 2:  Linked Open Data</vt:lpstr>
      <vt:lpstr>Episode 2: Linked Open Data</vt:lpstr>
      <vt:lpstr>Aber ist RDF nicht mega aufwändig?</vt:lpstr>
      <vt:lpstr>Aber ist RDF nicht mega aufwändig?</vt:lpstr>
      <vt:lpstr>Fazit</vt:lpstr>
      <vt:lpstr>Fazit</vt:lpstr>
      <vt:lpstr>Einladung</vt:lpstr>
      <vt:lpstr>Vielen Dank.</vt:lpstr>
    </vt:vector>
  </TitlesOfParts>
  <Company>Stadt Zürich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Schenker Rolf (SSZ)</dc:creator>
  <cp:lastModifiedBy>Schenker Rolf (SSZ)</cp:lastModifiedBy>
  <cp:revision>4</cp:revision>
  <dcterms:created xsi:type="dcterms:W3CDTF">2026-08-07T06:26:04Z</dcterms:created>
  <dcterms:modified xsi:type="dcterms:W3CDTF">2026-08-24T12:28:03Z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0x01010029E02BD6E265A546AB70B38C844D6E4C</vt:lpwstr>
  </property>
  <property fmtid="{D5CDD505-2E9C-101B-9397-08002B2CF9AE}" pid="3" name="MediaServiceImageTags">
    <vt:lpwstr/>
  </property>
</Properties>
</file>